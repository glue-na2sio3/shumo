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7" userDrawn="1">
          <p15:clr>
            <a:srgbClr val="A4A3A4"/>
          </p15:clr>
        </p15:guide>
        <p15:guide id="2" pos="39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97"/>
        <p:guide pos="39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18765" y="1961515"/>
            <a:ext cx="5104130" cy="1828800"/>
          </a:xfrm>
          <a:prstGeom prst="rect">
            <a:avLst/>
          </a:prstGeom>
          <a:gradFill>
            <a:gsLst>
              <a:gs pos="54000">
                <a:schemeClr val="accent2">
                  <a:lumMod val="60000"/>
                  <a:lumOff val="40000"/>
                </a:schemeClr>
              </a:gs>
              <a:gs pos="0">
                <a:schemeClr val="accent2">
                  <a:lumMod val="34000"/>
                  <a:lumOff val="66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0"/>
          </a:gra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2842260" y="1956435"/>
            <a:ext cx="5080635" cy="1263650"/>
          </a:xfrm>
          <a:custGeom>
            <a:avLst/>
            <a:gdLst>
              <a:gd name="connisteX0" fmla="*/ 0 w 5112385"/>
              <a:gd name="connsiteY0" fmla="*/ 6350 h 1263651"/>
              <a:gd name="connisteX1" fmla="*/ 2540000 w 5112385"/>
              <a:gd name="connsiteY1" fmla="*/ 1263650 h 1263651"/>
              <a:gd name="connisteX2" fmla="*/ 5112385 w 5112385"/>
              <a:gd name="connsiteY2" fmla="*/ 0 h 1263651"/>
              <a:gd name="connisteX3" fmla="*/ 5481955 w 5112385"/>
              <a:gd name="connsiteY3" fmla="*/ 492760 h 126365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112385" h="1263651">
                <a:moveTo>
                  <a:pt x="0" y="6350"/>
                </a:moveTo>
                <a:cubicBezTo>
                  <a:pt x="456565" y="283210"/>
                  <a:pt x="1517650" y="1264920"/>
                  <a:pt x="2540000" y="1263650"/>
                </a:cubicBezTo>
                <a:cubicBezTo>
                  <a:pt x="3562350" y="1262380"/>
                  <a:pt x="4523740" y="154305"/>
                  <a:pt x="5112385" y="0"/>
                </a:cubicBezTo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6860" y="1943735"/>
            <a:ext cx="5106035" cy="894080"/>
          </a:xfrm>
          <a:custGeom>
            <a:avLst/>
            <a:gdLst>
              <a:gd name="connisteX0" fmla="*/ 0 w 5112385"/>
              <a:gd name="connsiteY0" fmla="*/ 0 h 894081"/>
              <a:gd name="connisteX1" fmla="*/ 2475230 w 5112385"/>
              <a:gd name="connsiteY1" fmla="*/ 894080 h 894081"/>
              <a:gd name="connisteX2" fmla="*/ 5112385 w 5112385"/>
              <a:gd name="connsiteY2" fmla="*/ 6350 h 894081"/>
              <a:gd name="connisteX3" fmla="*/ 4620260 w 5112385"/>
              <a:gd name="connsiteY3" fmla="*/ 311150 h 89408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112385" h="894082">
                <a:moveTo>
                  <a:pt x="0" y="0"/>
                </a:moveTo>
                <a:cubicBezTo>
                  <a:pt x="442595" y="196850"/>
                  <a:pt x="1452880" y="892810"/>
                  <a:pt x="2475230" y="894080"/>
                </a:cubicBezTo>
                <a:cubicBezTo>
                  <a:pt x="3497580" y="895350"/>
                  <a:pt x="4683125" y="123190"/>
                  <a:pt x="5112385" y="6350"/>
                </a:cubicBezTo>
              </a:path>
            </a:pathLst>
          </a:custGeom>
          <a:solidFill>
            <a:schemeClr val="bg1"/>
          </a:solidFill>
          <a:ln>
            <a:solidFill>
              <a:schemeClr val="tx1">
                <a:alpha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5366385" y="3223260"/>
            <a:ext cx="2558415" cy="4445"/>
          </a:xfrm>
          <a:prstGeom prst="line">
            <a:avLst/>
          </a:prstGeom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12" idx="0"/>
          </p:cNvCxnSpPr>
          <p:nvPr/>
        </p:nvCxnSpPr>
        <p:spPr>
          <a:xfrm flipV="1">
            <a:off x="2816860" y="1935480"/>
            <a:ext cx="5092700" cy="8255"/>
          </a:xfrm>
          <a:prstGeom prst="line">
            <a:avLst/>
          </a:prstGeom>
          <a:ln w="12700" cmpd="sng"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 rot="16200000">
            <a:off x="7719060" y="2392680"/>
            <a:ext cx="113919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 i="1">
                <a:cs typeface="+mn-lt"/>
              </a:rPr>
              <a:t>Maximum Wear</a:t>
            </a:r>
            <a:endParaRPr lang="en-US" altLang="zh-CN" sz="900" b="1" i="1">
              <a:cs typeface="+mn-lt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V="1">
            <a:off x="5366385" y="2834640"/>
            <a:ext cx="2543175" cy="10795"/>
          </a:xfrm>
          <a:prstGeom prst="line">
            <a:avLst/>
          </a:prstGeom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 rot="16200000">
            <a:off x="7613015" y="2240280"/>
            <a:ext cx="872490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 i="1">
                <a:cs typeface="+mn-lt"/>
              </a:rPr>
              <a:t>Actual Wear</a:t>
            </a:r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 flipV="1">
            <a:off x="7902575" y="1933575"/>
            <a:ext cx="745490" cy="38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922895" y="3228340"/>
            <a:ext cx="48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7922895" y="2834005"/>
            <a:ext cx="215900" cy="25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8048625" y="1935480"/>
            <a:ext cx="1905" cy="10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046720" y="2719705"/>
            <a:ext cx="1905" cy="106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8279765" y="1938020"/>
            <a:ext cx="3175" cy="166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8282940" y="3053715"/>
            <a:ext cx="3175" cy="1663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V="1">
            <a:off x="7902575" y="3771900"/>
            <a:ext cx="745490" cy="69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8541385" y="1938020"/>
            <a:ext cx="1270" cy="559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 rot="16200000">
            <a:off x="8050530" y="2656205"/>
            <a:ext cx="98615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900" b="1" i="1">
                <a:cs typeface="+mn-lt"/>
                <a:sym typeface="+mn-ea"/>
              </a:rPr>
              <a:t>S</a:t>
            </a:r>
            <a:r>
              <a:rPr lang="en-US" altLang="zh-CN" sz="900" b="1" i="1">
                <a:cs typeface="+mn-lt"/>
                <a:sym typeface="+mn-ea"/>
              </a:rPr>
              <a:t>tep </a:t>
            </a:r>
            <a:r>
              <a:rPr lang="en-US" altLang="zh-CN" sz="900" b="1" i="1">
                <a:cs typeface="+mn-lt"/>
                <a:sym typeface="+mn-ea"/>
              </a:rPr>
              <a:t>L</a:t>
            </a:r>
            <a:r>
              <a:rPr lang="en-US" altLang="zh-CN" sz="900" b="1" i="1">
                <a:cs typeface="+mn-lt"/>
                <a:sym typeface="+mn-ea"/>
              </a:rPr>
              <a:t>ength</a:t>
            </a:r>
            <a:endParaRPr lang="en-US" altLang="zh-CN" sz="900" b="1" i="1">
              <a:cs typeface="+mn-lt"/>
              <a:sym typeface="+mn-ea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8528685" y="3210560"/>
            <a:ext cx="1270" cy="559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矩形 38"/>
          <p:cNvSpPr/>
          <p:nvPr/>
        </p:nvSpPr>
        <p:spPr>
          <a:xfrm>
            <a:off x="2807970" y="1956435"/>
            <a:ext cx="2536190" cy="1828800"/>
          </a:xfrm>
          <a:prstGeom prst="rect">
            <a:avLst/>
          </a:prstGeom>
          <a:gradFill>
            <a:gsLst>
              <a:gs pos="53000">
                <a:schemeClr val="accent2">
                  <a:lumMod val="60000"/>
                  <a:lumOff val="40000"/>
                </a:schemeClr>
              </a:gs>
              <a:gs pos="0">
                <a:schemeClr val="accent2">
                  <a:lumMod val="34000"/>
                  <a:lumOff val="66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0"/>
          </a:gra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/>
        </p:nvSpPr>
        <p:spPr>
          <a:xfrm>
            <a:off x="2823210" y="1950085"/>
            <a:ext cx="5106035" cy="894080"/>
          </a:xfrm>
          <a:custGeom>
            <a:avLst/>
            <a:gdLst>
              <a:gd name="connisteX0" fmla="*/ 0 w 5112385"/>
              <a:gd name="connsiteY0" fmla="*/ 0 h 894081"/>
              <a:gd name="connisteX1" fmla="*/ 2475230 w 5112385"/>
              <a:gd name="connsiteY1" fmla="*/ 894080 h 894081"/>
              <a:gd name="connisteX2" fmla="*/ 5112385 w 5112385"/>
              <a:gd name="connsiteY2" fmla="*/ 6350 h 894081"/>
              <a:gd name="connisteX3" fmla="*/ 4620260 w 5112385"/>
              <a:gd name="connsiteY3" fmla="*/ 311150 h 89408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112385" h="894082">
                <a:moveTo>
                  <a:pt x="0" y="0"/>
                </a:moveTo>
                <a:cubicBezTo>
                  <a:pt x="442595" y="196850"/>
                  <a:pt x="1452880" y="892810"/>
                  <a:pt x="2475230" y="894080"/>
                </a:cubicBezTo>
                <a:cubicBezTo>
                  <a:pt x="3497580" y="895350"/>
                  <a:pt x="4683125" y="123190"/>
                  <a:pt x="5112385" y="635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>
            <a:off x="2826385" y="1959610"/>
            <a:ext cx="5080635" cy="1263650"/>
          </a:xfrm>
          <a:custGeom>
            <a:avLst/>
            <a:gdLst>
              <a:gd name="connisteX0" fmla="*/ 0 w 5112385"/>
              <a:gd name="connsiteY0" fmla="*/ 6350 h 1263651"/>
              <a:gd name="connisteX1" fmla="*/ 2540000 w 5112385"/>
              <a:gd name="connsiteY1" fmla="*/ 1263650 h 1263651"/>
              <a:gd name="connisteX2" fmla="*/ 5112385 w 5112385"/>
              <a:gd name="connsiteY2" fmla="*/ 0 h 1263651"/>
              <a:gd name="connisteX3" fmla="*/ 5481955 w 5112385"/>
              <a:gd name="connsiteY3" fmla="*/ 492760 h 1263651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112385" h="1263651">
                <a:moveTo>
                  <a:pt x="0" y="6350"/>
                </a:moveTo>
                <a:cubicBezTo>
                  <a:pt x="456565" y="283210"/>
                  <a:pt x="1517650" y="1264920"/>
                  <a:pt x="2540000" y="1263650"/>
                </a:cubicBezTo>
                <a:cubicBezTo>
                  <a:pt x="3562350" y="1262380"/>
                  <a:pt x="4523740" y="154305"/>
                  <a:pt x="5112385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 useBgFill="1">
        <p:nvSpPr>
          <p:cNvPr id="43" name="左大括号 42"/>
          <p:cNvSpPr/>
          <p:nvPr/>
        </p:nvSpPr>
        <p:spPr>
          <a:xfrm rot="5400000">
            <a:off x="3965575" y="560070"/>
            <a:ext cx="237490" cy="2520950"/>
          </a:xfrm>
          <a:prstGeom prst="leftBrace">
            <a:avLst>
              <a:gd name="adj1" fmla="val 71818"/>
              <a:gd name="adj2" fmla="val 50403"/>
            </a:avLst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左大括号 43"/>
          <p:cNvSpPr/>
          <p:nvPr/>
        </p:nvSpPr>
        <p:spPr>
          <a:xfrm rot="5400000">
            <a:off x="6539230" y="530860"/>
            <a:ext cx="189865" cy="2578100"/>
          </a:xfrm>
          <a:prstGeom prst="leftBrace">
            <a:avLst>
              <a:gd name="adj1" fmla="val 86969"/>
              <a:gd name="adj2" fmla="val 50393"/>
            </a:avLst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3287395" y="1336675"/>
            <a:ext cx="1841500" cy="3352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i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When Not Worn</a:t>
            </a:r>
            <a:endParaRPr lang="en-US" altLang="zh-CN" i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048375" y="1297305"/>
            <a:ext cx="1306830" cy="3352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r>
              <a:rPr lang="en-US" altLang="zh-CN" i="1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After Wear</a:t>
            </a:r>
            <a:endParaRPr lang="en-US" altLang="zh-CN" i="1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/>
        </p:nvCxnSpPr>
        <p:spPr>
          <a:xfrm>
            <a:off x="5104765" y="1849755"/>
            <a:ext cx="0" cy="1704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374765" y="1849755"/>
            <a:ext cx="0" cy="1704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4491990" y="2632075"/>
            <a:ext cx="2968625" cy="9226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任意多边形 23"/>
          <p:cNvSpPr/>
          <p:nvPr/>
        </p:nvSpPr>
        <p:spPr>
          <a:xfrm>
            <a:off x="4498975" y="2237105"/>
            <a:ext cx="2943225" cy="1304925"/>
          </a:xfrm>
          <a:custGeom>
            <a:avLst/>
            <a:gdLst>
              <a:gd name="connisteX0" fmla="*/ 0 w 2943225"/>
              <a:gd name="connsiteY0" fmla="*/ 1304925 h 1304925"/>
              <a:gd name="connisteX1" fmla="*/ 600075 w 2943225"/>
              <a:gd name="connsiteY1" fmla="*/ 762000 h 1304925"/>
              <a:gd name="connisteX2" fmla="*/ 1857375 w 2943225"/>
              <a:gd name="connsiteY2" fmla="*/ 561975 h 1304925"/>
              <a:gd name="connisteX3" fmla="*/ 2943225 w 2943225"/>
              <a:gd name="connsiteY3" fmla="*/ 0 h 130492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2943225" h="1304925">
                <a:moveTo>
                  <a:pt x="0" y="1304925"/>
                </a:moveTo>
                <a:cubicBezTo>
                  <a:pt x="94615" y="1200150"/>
                  <a:pt x="228600" y="910590"/>
                  <a:pt x="600075" y="762000"/>
                </a:cubicBezTo>
                <a:cubicBezTo>
                  <a:pt x="971550" y="613410"/>
                  <a:pt x="1388745" y="714375"/>
                  <a:pt x="1857375" y="561975"/>
                </a:cubicBezTo>
                <a:cubicBezTo>
                  <a:pt x="2326005" y="409575"/>
                  <a:pt x="2751455" y="108585"/>
                  <a:pt x="2943225" y="0"/>
                </a:cubicBezTo>
              </a:path>
            </a:pathLst>
          </a:custGeom>
          <a:noFill/>
          <a:ln w="22225" cmpd="sng">
            <a:solidFill>
              <a:schemeClr val="tx1"/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240020" y="1550670"/>
            <a:ext cx="1179195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 b="1" i="1">
                <a:cs typeface="+mn-lt"/>
              </a:rPr>
              <a:t>Wear Stages</a:t>
            </a:r>
            <a:endParaRPr lang="zh-CN" altLang="en-US" sz="1200"/>
          </a:p>
        </p:txBody>
      </p:sp>
      <p:sp>
        <p:nvSpPr>
          <p:cNvPr id="27" name="文本框 26"/>
          <p:cNvSpPr txBox="1"/>
          <p:nvPr/>
        </p:nvSpPr>
        <p:spPr>
          <a:xfrm>
            <a:off x="4667885" y="1828800"/>
            <a:ext cx="235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5577205" y="1824355"/>
            <a:ext cx="325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II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6820535" y="1824355"/>
            <a:ext cx="374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III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 rot="16200000">
            <a:off x="3698240" y="2466340"/>
            <a:ext cx="1189990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 b="1" i="1">
                <a:cs typeface="+mn-lt"/>
              </a:rPr>
              <a:t>Wear Depth</a:t>
            </a:r>
            <a:endParaRPr lang="zh-CN" altLang="en-US" sz="1200"/>
          </a:p>
        </p:txBody>
      </p:sp>
      <p:sp>
        <p:nvSpPr>
          <p:cNvPr id="32" name="文本框 31"/>
          <p:cNvSpPr txBox="1"/>
          <p:nvPr/>
        </p:nvSpPr>
        <p:spPr>
          <a:xfrm>
            <a:off x="5132070" y="3599180"/>
            <a:ext cx="1540510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 b="1" i="1">
                <a:cs typeface="+mn-lt"/>
              </a:rPr>
              <a:t>Loading Duration</a:t>
            </a:r>
            <a:endParaRPr lang="zh-CN" altLang="en-US" sz="1200"/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4491990" y="1802130"/>
            <a:ext cx="0" cy="1752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4491990" y="3554730"/>
            <a:ext cx="3020060" cy="5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481320" y="2632075"/>
            <a:ext cx="607695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>
                <a:cs typeface="+mn-lt"/>
              </a:rPr>
              <a:t>Reality</a:t>
            </a:r>
            <a:endParaRPr lang="zh-CN" altLang="en-US" sz="900"/>
          </a:p>
        </p:txBody>
      </p:sp>
      <p:sp>
        <p:nvSpPr>
          <p:cNvPr id="37" name="文本框 36"/>
          <p:cNvSpPr txBox="1"/>
          <p:nvPr/>
        </p:nvSpPr>
        <p:spPr>
          <a:xfrm>
            <a:off x="6720205" y="2823210"/>
            <a:ext cx="791845" cy="318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>
                <a:cs typeface="+mn-lt"/>
              </a:rPr>
              <a:t>Classical</a:t>
            </a:r>
            <a:endParaRPr lang="en-US" altLang="zh-CN" sz="900" b="1">
              <a:cs typeface="+mn-lt"/>
            </a:endParaRPr>
          </a:p>
          <a:p>
            <a:r>
              <a:rPr lang="en-US" altLang="zh-CN" sz="900" b="1"/>
              <a:t>Approach</a:t>
            </a:r>
            <a:endParaRPr lang="en-US" altLang="zh-CN" sz="900" b="1"/>
          </a:p>
        </p:txBody>
      </p:sp>
      <p:cxnSp>
        <p:nvCxnSpPr>
          <p:cNvPr id="53" name="直接连接符 52"/>
          <p:cNvCxnSpPr/>
          <p:nvPr/>
        </p:nvCxnSpPr>
        <p:spPr>
          <a:xfrm>
            <a:off x="8749030" y="1906905"/>
            <a:ext cx="0" cy="1704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10019030" y="1906905"/>
            <a:ext cx="0" cy="1704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8884285" y="1607820"/>
            <a:ext cx="1179195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 b="1" i="1">
                <a:cs typeface="+mn-lt"/>
              </a:rPr>
              <a:t>Wear Stages</a:t>
            </a:r>
            <a:endParaRPr lang="zh-CN" altLang="en-US" sz="1200"/>
          </a:p>
        </p:txBody>
      </p:sp>
      <p:sp>
        <p:nvSpPr>
          <p:cNvPr id="58" name="文本框 57"/>
          <p:cNvSpPr txBox="1"/>
          <p:nvPr/>
        </p:nvSpPr>
        <p:spPr>
          <a:xfrm>
            <a:off x="8312150" y="1885950"/>
            <a:ext cx="235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</a:t>
            </a:r>
            <a:endParaRPr lang="en-US" altLang="zh-CN"/>
          </a:p>
        </p:txBody>
      </p:sp>
      <p:sp>
        <p:nvSpPr>
          <p:cNvPr id="59" name="文本框 58"/>
          <p:cNvSpPr txBox="1"/>
          <p:nvPr/>
        </p:nvSpPr>
        <p:spPr>
          <a:xfrm>
            <a:off x="9221470" y="1881505"/>
            <a:ext cx="325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II</a:t>
            </a:r>
            <a:endParaRPr lang="en-US" altLang="zh-CN"/>
          </a:p>
        </p:txBody>
      </p:sp>
      <p:sp>
        <p:nvSpPr>
          <p:cNvPr id="60" name="文本框 59"/>
          <p:cNvSpPr txBox="1"/>
          <p:nvPr/>
        </p:nvSpPr>
        <p:spPr>
          <a:xfrm>
            <a:off x="10464800" y="1881505"/>
            <a:ext cx="374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III</a:t>
            </a:r>
            <a:endParaRPr lang="en-US" altLang="zh-CN"/>
          </a:p>
        </p:txBody>
      </p:sp>
      <p:sp>
        <p:nvSpPr>
          <p:cNvPr id="61" name="文本框 60"/>
          <p:cNvSpPr txBox="1"/>
          <p:nvPr/>
        </p:nvSpPr>
        <p:spPr>
          <a:xfrm rot="16200000">
            <a:off x="7176770" y="2543175"/>
            <a:ext cx="1521460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 b="1" i="1">
                <a:cs typeface="+mn-lt"/>
              </a:rPr>
              <a:t>Wear Coefficient</a:t>
            </a:r>
            <a:endParaRPr lang="zh-CN" altLang="en-US" sz="1200"/>
          </a:p>
        </p:txBody>
      </p:sp>
      <p:sp>
        <p:nvSpPr>
          <p:cNvPr id="62" name="文本框 61"/>
          <p:cNvSpPr txBox="1"/>
          <p:nvPr/>
        </p:nvSpPr>
        <p:spPr>
          <a:xfrm>
            <a:off x="8776335" y="3656330"/>
            <a:ext cx="1540510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 b="1" i="1">
                <a:cs typeface="+mn-lt"/>
              </a:rPr>
              <a:t>Loading Duration</a:t>
            </a:r>
            <a:endParaRPr lang="zh-CN" altLang="en-US" sz="1200"/>
          </a:p>
        </p:txBody>
      </p:sp>
      <p:cxnSp>
        <p:nvCxnSpPr>
          <p:cNvPr id="63" name="直接箭头连接符 62"/>
          <p:cNvCxnSpPr/>
          <p:nvPr/>
        </p:nvCxnSpPr>
        <p:spPr>
          <a:xfrm flipV="1">
            <a:off x="8136255" y="1859280"/>
            <a:ext cx="0" cy="1752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8136255" y="3611880"/>
            <a:ext cx="3020060" cy="5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8101330" y="2315210"/>
            <a:ext cx="607695" cy="2482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>
                <a:cs typeface="+mn-lt"/>
              </a:rPr>
              <a:t>Reality</a:t>
            </a:r>
            <a:endParaRPr lang="zh-CN" altLang="en-US" sz="900"/>
          </a:p>
        </p:txBody>
      </p:sp>
      <p:sp>
        <p:nvSpPr>
          <p:cNvPr id="66" name="文本框 65"/>
          <p:cNvSpPr txBox="1"/>
          <p:nvPr/>
        </p:nvSpPr>
        <p:spPr>
          <a:xfrm>
            <a:off x="8788400" y="2823210"/>
            <a:ext cx="1324610" cy="318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900" b="1">
                <a:cs typeface="+mn-lt"/>
              </a:rPr>
              <a:t>Classical </a:t>
            </a:r>
            <a:r>
              <a:rPr lang="en-US" altLang="zh-CN" sz="900" b="1"/>
              <a:t>Approach</a:t>
            </a:r>
            <a:endParaRPr lang="en-US" altLang="zh-CN" sz="900" b="1"/>
          </a:p>
        </p:txBody>
      </p:sp>
      <p:cxnSp>
        <p:nvCxnSpPr>
          <p:cNvPr id="67" name="直接连接符 66"/>
          <p:cNvCxnSpPr/>
          <p:nvPr/>
        </p:nvCxnSpPr>
        <p:spPr>
          <a:xfrm flipV="1">
            <a:off x="8136890" y="3079750"/>
            <a:ext cx="2847340" cy="15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7" name="任意多边形 86"/>
          <p:cNvSpPr/>
          <p:nvPr/>
        </p:nvSpPr>
        <p:spPr>
          <a:xfrm>
            <a:off x="8123555" y="2184400"/>
            <a:ext cx="2676525" cy="1362927"/>
          </a:xfrm>
          <a:custGeom>
            <a:avLst/>
            <a:gdLst>
              <a:gd name="connsiteX0" fmla="*/ 0 w 4215"/>
              <a:gd name="connsiteY0" fmla="*/ 607 h 2146"/>
              <a:gd name="connsiteX1" fmla="*/ 810 w 4215"/>
              <a:gd name="connsiteY1" fmla="*/ 787 h 2146"/>
              <a:gd name="connsiteX2" fmla="*/ 1395 w 4215"/>
              <a:gd name="connsiteY2" fmla="*/ 2092 h 2146"/>
              <a:gd name="connsiteX3" fmla="*/ 2835 w 4215"/>
              <a:gd name="connsiteY3" fmla="*/ 2062 h 2146"/>
              <a:gd name="connsiteX4" fmla="*/ 4215 w 4215"/>
              <a:gd name="connsiteY4" fmla="*/ 0 h 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15" h="2146">
                <a:moveTo>
                  <a:pt x="0" y="607"/>
                </a:moveTo>
                <a:cubicBezTo>
                  <a:pt x="255" y="652"/>
                  <a:pt x="735" y="562"/>
                  <a:pt x="810" y="787"/>
                </a:cubicBezTo>
                <a:cubicBezTo>
                  <a:pt x="1008" y="1006"/>
                  <a:pt x="855" y="1912"/>
                  <a:pt x="1395" y="2092"/>
                </a:cubicBezTo>
                <a:cubicBezTo>
                  <a:pt x="2010" y="2182"/>
                  <a:pt x="2100" y="2152"/>
                  <a:pt x="2835" y="2062"/>
                </a:cubicBezTo>
                <a:cubicBezTo>
                  <a:pt x="3570" y="1972"/>
                  <a:pt x="3885" y="787"/>
                  <a:pt x="4215" y="0"/>
                </a:cubicBezTo>
              </a:path>
            </a:pathLst>
          </a:custGeom>
          <a:noFill/>
          <a:ln w="22225" cmpd="sng">
            <a:solidFill>
              <a:schemeClr val="tx1"/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ln>
                <a:solidFill>
                  <a:schemeClr val="tx1"/>
                </a:solidFill>
              </a:ln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" name="直接连接符 6"/>
          <p:cNvCxnSpPr/>
          <p:nvPr/>
        </p:nvCxnSpPr>
        <p:spPr>
          <a:xfrm>
            <a:off x="5417820" y="1278255"/>
            <a:ext cx="0" cy="21932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07680" y="1278255"/>
            <a:ext cx="0" cy="21932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4819650" y="3518535"/>
            <a:ext cx="3990975" cy="319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 b="1" i="1">
                <a:cs typeface="+mn-lt"/>
              </a:rPr>
              <a:t>Time,number of overrollings or sliding distance</a:t>
            </a:r>
            <a:endParaRPr lang="zh-CN" altLang="en-US" sz="1200"/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4491990" y="1216660"/>
            <a:ext cx="0" cy="22542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4491990" y="3462020"/>
            <a:ext cx="4523105" cy="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1">
            <a:off x="9005570" y="1198245"/>
            <a:ext cx="0" cy="22542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4501515" y="1775460"/>
            <a:ext cx="914400" cy="762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8107680" y="1783080"/>
            <a:ext cx="914400" cy="762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411470" y="1784350"/>
            <a:ext cx="2684780" cy="635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491990" y="1518920"/>
            <a:ext cx="1040130" cy="319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000" b="1" i="1">
                <a:cs typeface="+mn-lt"/>
              </a:rPr>
              <a:t>Running-in</a:t>
            </a:r>
            <a:endParaRPr lang="zh-CN" altLang="en-US" sz="1000"/>
          </a:p>
        </p:txBody>
      </p:sp>
      <p:sp>
        <p:nvSpPr>
          <p:cNvPr id="13" name="文本框 12"/>
          <p:cNvSpPr txBox="1"/>
          <p:nvPr/>
        </p:nvSpPr>
        <p:spPr>
          <a:xfrm>
            <a:off x="8086725" y="1520190"/>
            <a:ext cx="1040130" cy="319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000" b="1" i="1">
                <a:cs typeface="+mn-lt"/>
              </a:rPr>
              <a:t>Wear-out</a:t>
            </a:r>
            <a:endParaRPr lang="zh-CN" altLang="en-US" sz="1000"/>
          </a:p>
        </p:txBody>
      </p:sp>
      <p:sp>
        <p:nvSpPr>
          <p:cNvPr id="14" name="文本框 13"/>
          <p:cNvSpPr txBox="1"/>
          <p:nvPr/>
        </p:nvSpPr>
        <p:spPr>
          <a:xfrm>
            <a:off x="6274435" y="1520190"/>
            <a:ext cx="1040130" cy="319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000" b="1" i="1">
                <a:cs typeface="+mn-lt"/>
              </a:rPr>
              <a:t>Steady State</a:t>
            </a:r>
            <a:endParaRPr lang="zh-CN" altLang="en-US" sz="1000"/>
          </a:p>
        </p:txBody>
      </p:sp>
      <p:sp>
        <p:nvSpPr>
          <p:cNvPr id="15" name="文本框 14"/>
          <p:cNvSpPr txBox="1"/>
          <p:nvPr/>
        </p:nvSpPr>
        <p:spPr>
          <a:xfrm rot="16200000">
            <a:off x="8698230" y="2112010"/>
            <a:ext cx="11017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1200" b="1" i="1">
                <a:cs typeface="+mn-lt"/>
                <a:sym typeface="+mn-ea"/>
              </a:rPr>
              <a:t>Wear Rate</a:t>
            </a:r>
            <a:endParaRPr lang="en-US" altLang="zh-CN" sz="900" b="1" i="1">
              <a:cs typeface="+mn-lt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 rot="16200000">
            <a:off x="3707130" y="1959610"/>
            <a:ext cx="110172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1200" b="1" i="1">
                <a:cs typeface="+mn-lt"/>
                <a:sym typeface="+mn-ea"/>
              </a:rPr>
              <a:t>Wear</a:t>
            </a:r>
            <a:endParaRPr lang="en-US" altLang="zh-CN" sz="900" b="1" i="1">
              <a:cs typeface="+mn-lt"/>
              <a:sym typeface="+mn-ea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4495800" y="1371600"/>
            <a:ext cx="4391025" cy="1257300"/>
          </a:xfrm>
          <a:custGeom>
            <a:avLst/>
            <a:gdLst>
              <a:gd name="connsiteX0" fmla="*/ 0 w 6915"/>
              <a:gd name="connsiteY0" fmla="*/ 990 h 1980"/>
              <a:gd name="connsiteX1" fmla="*/ 1485 w 6915"/>
              <a:gd name="connsiteY1" fmla="*/ 1980 h 1980"/>
              <a:gd name="connsiteX2" fmla="*/ 5550 w 6915"/>
              <a:gd name="connsiteY2" fmla="*/ 1950 h 1980"/>
              <a:gd name="connsiteX3" fmla="*/ 6915 w 6915"/>
              <a:gd name="connsiteY3" fmla="*/ 0 h 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15" h="1980">
                <a:moveTo>
                  <a:pt x="0" y="990"/>
                </a:moveTo>
                <a:cubicBezTo>
                  <a:pt x="375" y="1635"/>
                  <a:pt x="210" y="1980"/>
                  <a:pt x="1485" y="1980"/>
                </a:cubicBezTo>
                <a:cubicBezTo>
                  <a:pt x="2760" y="1980"/>
                  <a:pt x="4350" y="1965"/>
                  <a:pt x="5550" y="1950"/>
                </a:cubicBezTo>
                <a:cubicBezTo>
                  <a:pt x="6750" y="1935"/>
                  <a:pt x="6645" y="1320"/>
                  <a:pt x="6915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>
            <a:off x="4495800" y="1285875"/>
            <a:ext cx="4371975" cy="2171700"/>
          </a:xfrm>
          <a:custGeom>
            <a:avLst/>
            <a:gdLst>
              <a:gd name="connisteX0" fmla="*/ 0 w 4371975"/>
              <a:gd name="connsiteY0" fmla="*/ 2171700 h 2171700"/>
              <a:gd name="connisteX1" fmla="*/ 923925 w 4371975"/>
              <a:gd name="connsiteY1" fmla="*/ 1457325 h 2171700"/>
              <a:gd name="connisteX2" fmla="*/ 3609975 w 4371975"/>
              <a:gd name="connsiteY2" fmla="*/ 1133475 h 2171700"/>
              <a:gd name="connisteX3" fmla="*/ 4371975 w 4371975"/>
              <a:gd name="connsiteY3" fmla="*/ 0 h 2171700"/>
              <a:gd name="connisteX4" fmla="*/ 4200525 w 4371975"/>
              <a:gd name="connsiteY4" fmla="*/ -390525 h 21717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4371975" h="2171700">
                <a:moveTo>
                  <a:pt x="0" y="2171700"/>
                </a:moveTo>
                <a:cubicBezTo>
                  <a:pt x="130810" y="2035175"/>
                  <a:pt x="201930" y="1664970"/>
                  <a:pt x="923925" y="1457325"/>
                </a:cubicBezTo>
                <a:cubicBezTo>
                  <a:pt x="1645920" y="1249680"/>
                  <a:pt x="2920365" y="1424940"/>
                  <a:pt x="3609975" y="1133475"/>
                </a:cubicBezTo>
                <a:cubicBezTo>
                  <a:pt x="4299585" y="842010"/>
                  <a:pt x="4253865" y="304800"/>
                  <a:pt x="4371975" y="0"/>
                </a:cubicBezTo>
              </a:path>
            </a:pathLst>
          </a:cu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867275" y="2930525"/>
            <a:ext cx="110172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900" b="1">
                <a:cs typeface="+mn-lt"/>
                <a:sym typeface="+mn-ea"/>
              </a:rPr>
              <a:t>Wear</a:t>
            </a:r>
            <a:endParaRPr lang="en-US" altLang="zh-CN" sz="900" b="1">
              <a:cs typeface="+mn-lt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119110" y="2564130"/>
            <a:ext cx="1101725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zh-CN" sz="900" b="1">
                <a:cs typeface="+mn-lt"/>
                <a:sym typeface="+mn-ea"/>
              </a:rPr>
              <a:t>Wear Rate</a:t>
            </a:r>
            <a:endParaRPr lang="en-US" altLang="zh-CN" sz="900" b="1">
              <a:cs typeface="+mn-lt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808595" y="770890"/>
            <a:ext cx="778510" cy="460375"/>
          </a:xfrm>
          <a:prstGeom prst="rect">
            <a:avLst/>
          </a:prstGeom>
          <a:noFill/>
          <a:ln w="9525" cmpd="sng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p>
            <a:r>
              <a:rPr lang="en-US" altLang="zh-CN" sz="1200" i="1"/>
              <a:t>Fatigue Failure</a:t>
            </a:r>
            <a:endParaRPr lang="en-US" altLang="zh-CN" sz="1200" i="1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</Words>
  <Application>WPS 演示</Application>
  <PresentationFormat>宽屏</PresentationFormat>
  <Paragraphs>61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秋萤野马</cp:lastModifiedBy>
  <cp:revision>162</cp:revision>
  <dcterms:created xsi:type="dcterms:W3CDTF">2019-06-19T02:08:00Z</dcterms:created>
  <dcterms:modified xsi:type="dcterms:W3CDTF">2025-01-26T19:59:33Z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465AF737CDA444128B5D51E05C1A201A_13</vt:lpwstr>
  </property>
</Properties>
</file>